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9"/>
  </p:notesMasterIdLst>
  <p:sldIdLst>
    <p:sldId id="2767" r:id="rId5"/>
    <p:sldId id="257" r:id="rId6"/>
    <p:sldId id="258" r:id="rId7"/>
    <p:sldId id="2768" r:id="rId8"/>
    <p:sldId id="260" r:id="rId9"/>
    <p:sldId id="261" r:id="rId10"/>
    <p:sldId id="269" r:id="rId11"/>
    <p:sldId id="263" r:id="rId12"/>
    <p:sldId id="264" r:id="rId13"/>
    <p:sldId id="270" r:id="rId14"/>
    <p:sldId id="265" r:id="rId15"/>
    <p:sldId id="266" r:id="rId16"/>
    <p:sldId id="268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95"/>
  </p:normalViewPr>
  <p:slideViewPr>
    <p:cSldViewPr snapToGrid="0">
      <p:cViewPr>
        <p:scale>
          <a:sx n="103" d="100"/>
          <a:sy n="103" d="100"/>
        </p:scale>
        <p:origin x="2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4/13/2026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072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38E9-D21E-DE68-38AC-F56AEA15B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rmAutofit/>
          </a:bodyPr>
          <a:lstStyle/>
          <a:p>
            <a:r>
              <a:rPr lang="en-US" dirty="0"/>
              <a:t>A Hacker's Guide to C++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 anchor="t">
            <a:normAutofit/>
          </a:bodyPr>
          <a:lstStyle/>
          <a:p>
            <a:r>
              <a:rPr lang="en-US" dirty="0"/>
              <a:t>Presented by Aaron Hails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B60C5C2-A596-7FEB-7260-D4D75F7F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pPr lvl="0"/>
            <a:fld id="{A2C196D7-201A-4A3A-B9FA-EDBCED2083FF}" type="datetime1">
              <a:rPr lang="en-US" noProof="0" smtClean="0"/>
              <a:t>4/13/2026</a:t>
            </a:fld>
            <a:endParaRPr lang="en-US" noProof="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93C2242-EDFC-CC39-97DF-2DB1D8D5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pPr lvl="0"/>
            <a:r>
              <a:rPr lang="en-US" dirty="0"/>
              <a:t>github.com/Auriosi/cpp-workshop</a:t>
            </a:r>
            <a:endParaRPr lang="en-US" noProof="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247F861-42CF-FE05-F8FD-7EBB0D76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/>
          <a:lstStyle/>
          <a:p>
            <a:pPr lvl="0"/>
            <a:fld id="{84C450F2-3BB4-4AE4-8A35-A9D7AEA4C850}" type="slidenum">
              <a:rPr lang="en-US" noProof="0" smtClean="0"/>
              <a:pPr lvl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Tools Installation</a:t>
            </a:r>
          </a:p>
          <a:p>
            <a:r>
              <a:rPr lang="en-US" dirty="0"/>
              <a:t>Project Introduction</a:t>
            </a:r>
          </a:p>
          <a:p>
            <a:r>
              <a:rPr lang="en-US" dirty="0"/>
              <a:t>Code as We Learn</a:t>
            </a:r>
          </a:p>
          <a:p>
            <a:r>
              <a:rPr lang="en-US" dirty="0"/>
              <a:t>Learning Post-Workshop</a:t>
            </a:r>
          </a:p>
          <a:p>
            <a:r>
              <a:rPr lang="en-US" dirty="0"/>
              <a:t>Q&amp;A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602D5-209F-C183-95CC-735D34DC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0712A-E8AC-4933-9DE4-16CA7BD51374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8326A-C836-F80E-4EAB-FB475085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github.com/</a:t>
            </a:r>
            <a:r>
              <a:rPr lang="en-US" dirty="0" err="1"/>
              <a:t>Auriosi</a:t>
            </a:r>
            <a:r>
              <a:rPr lang="en-US" dirty="0"/>
              <a:t>/</a:t>
            </a:r>
            <a:r>
              <a:rPr lang="en-US" dirty="0" err="1"/>
              <a:t>cpp</a:t>
            </a:r>
            <a:r>
              <a:rPr lang="en-US" dirty="0"/>
              <a:t>-workshop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DC894-A40D-FD0D-CF41-FEE5AF09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44A5-0283-F980-85F3-EE51746F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/>
          <a:lstStyle/>
          <a:p>
            <a:r>
              <a:rPr lang="en-US" dirty="0"/>
              <a:t>Self</a:t>
            </a:r>
            <a:br>
              <a:rPr lang="en-US" dirty="0"/>
            </a:br>
            <a:r>
              <a:rPr lang="en-US" dirty="0"/>
              <a:t>Introduction</a:t>
            </a:r>
          </a:p>
        </p:txBody>
      </p:sp>
      <p:pic>
        <p:nvPicPr>
          <p:cNvPr id="6" name="Picture Placeholder 5" descr="Two people running on a beach">
            <a:extLst>
              <a:ext uri="{FF2B5EF4-FFF2-40B4-BE49-F238E27FC236}">
                <a16:creationId xmlns:a16="http://schemas.microsoft.com/office/drawing/2014/main" id="{F89F5A20-EE3C-FB44-E2F2-3404DD866E6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1750040" cy="4724868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85359-5FD3-D5C8-1467-F7082543AA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rmAutofit fontScale="92500"/>
          </a:bodyPr>
          <a:lstStyle/>
          <a:p>
            <a:r>
              <a:rPr lang="en-US" dirty="0"/>
              <a:t>When introducing yourself, keep it concise and relevant. </a:t>
            </a:r>
          </a:p>
          <a:p>
            <a:r>
              <a:rPr lang="en-US" dirty="0"/>
              <a:t>Start with a hook, state your expertise, and explain why you’re presenting.</a:t>
            </a:r>
          </a:p>
          <a:p>
            <a:r>
              <a:rPr lang="en-US" dirty="0"/>
              <a:t>If possible, keep your introduction to under 60 seconds to maintain interest.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66051-9A8D-AB51-EEFB-7677CCB2B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D37E-812B-468F-B489-3911FC6F6723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A6235-3D99-C9B4-4037-D7F62E83E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github.com/</a:t>
            </a:r>
            <a:r>
              <a:rPr lang="en-US" dirty="0" err="1"/>
              <a:t>Auriosi</a:t>
            </a:r>
            <a:r>
              <a:rPr lang="en-US" dirty="0"/>
              <a:t>/</a:t>
            </a:r>
            <a:r>
              <a:rPr lang="en-US" dirty="0" err="1"/>
              <a:t>cpp</a:t>
            </a:r>
            <a:r>
              <a:rPr lang="en-US" dirty="0"/>
              <a:t>-workshop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FC93-FE33-B17E-E50C-7ED72B635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19F15-C22A-9F00-27BA-0C1C8D68C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800" dirty="0"/>
              <a:t>C++ is complicated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00B575-1995-E579-57A3-30AD2CE9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3AFB7-90A6-428C-A019-BBE6272496B8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945F91-E5F7-DD8E-19E0-969AAE772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github.com/</a:t>
            </a:r>
            <a:r>
              <a:rPr lang="en-US" dirty="0" err="1"/>
              <a:t>Auriosi</a:t>
            </a:r>
            <a:r>
              <a:rPr lang="en-US" dirty="0"/>
              <a:t>/</a:t>
            </a:r>
            <a:r>
              <a:rPr lang="en-US" dirty="0" err="1"/>
              <a:t>cpp</a:t>
            </a:r>
            <a:r>
              <a:rPr lang="en-US" dirty="0"/>
              <a:t>-workshop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E11B22-42C6-1BC2-62ED-88C524A3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787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F81C-2BD8-A4FA-1C47-752CDA281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9130138" cy="4008859"/>
          </a:xfrm>
        </p:spPr>
        <p:txBody>
          <a:bodyPr/>
          <a:lstStyle/>
          <a:p>
            <a:r>
              <a:rPr lang="en-US" dirty="0"/>
              <a:t>Tools installation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E3DB6-9604-119A-147D-87313E70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2E664-B024-4B15-A27C-3009EED3249B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CA12B-9FEC-9EC2-45A2-67466ADB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github.com/</a:t>
            </a:r>
            <a:r>
              <a:rPr lang="en-US" dirty="0" err="1"/>
              <a:t>Auriosi</a:t>
            </a:r>
            <a:r>
              <a:rPr lang="en-US" dirty="0"/>
              <a:t>/</a:t>
            </a:r>
            <a:r>
              <a:rPr lang="en-US" dirty="0" err="1"/>
              <a:t>cpp</a:t>
            </a:r>
            <a:r>
              <a:rPr lang="en-US" dirty="0"/>
              <a:t>-workshop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67AE3-F49B-E352-A529-8E3AAB9E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5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030524-29F7-7E3E-DB37-A4EFADDC6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50" y="2000250"/>
            <a:ext cx="2857500" cy="2857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323EC3C-D7F1-73EF-F06D-BEE936794CF6}"/>
              </a:ext>
            </a:extLst>
          </p:cNvPr>
          <p:cNvSpPr txBox="1"/>
          <p:nvPr/>
        </p:nvSpPr>
        <p:spPr>
          <a:xfrm>
            <a:off x="1967305" y="5064834"/>
            <a:ext cx="8257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github.com/Auriosi/cpp-workshop/blob/main/tooling.md</a:t>
            </a:r>
          </a:p>
        </p:txBody>
      </p:sp>
    </p:spTree>
    <p:extLst>
      <p:ext uri="{BB962C8B-B14F-4D97-AF65-F5344CB8AC3E}">
        <p14:creationId xmlns:p14="http://schemas.microsoft.com/office/powerpoint/2010/main" val="4198690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Project Introduction</a:t>
            </a:r>
          </a:p>
        </p:txBody>
      </p:sp>
      <p:pic>
        <p:nvPicPr>
          <p:cNvPr id="6" name="Picture Placeholder 5" descr="A close-up of a wood grain">
            <a:extLst>
              <a:ext uri="{FF2B5EF4-FFF2-40B4-BE49-F238E27FC236}">
                <a16:creationId xmlns:a16="http://schemas.microsoft.com/office/drawing/2014/main" id="{503626A1-9E15-A048-4FD7-2D14DDE4162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70B6-B9DD-8293-E045-C9E0BE21FEB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anchor="ctr">
            <a:normAutofit/>
          </a:bodyPr>
          <a:lstStyle/>
          <a:p>
            <a:r>
              <a:rPr lang="en-US" sz="2800" dirty="0"/>
              <a:t>Text-based hackathon survival simulator</a:t>
            </a:r>
          </a:p>
          <a:p>
            <a:r>
              <a:rPr lang="en-US" sz="2800" dirty="0"/>
              <a:t>Player has 24 hours to complete their project</a:t>
            </a:r>
            <a:endParaRPr lang="en-US" sz="2800" b="1" dirty="0"/>
          </a:p>
          <a:p>
            <a:r>
              <a:rPr lang="en-US" sz="2800" dirty="0"/>
              <a:t>Manage time and energy to contribute as much progress as possible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08E80-2392-A58F-EEB2-EE6337888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76D00-6106-43BB-8923-18C7A7C520E4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AA2F1-CC44-35CF-7A34-1B814A19A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github.com/</a:t>
            </a:r>
            <a:r>
              <a:rPr lang="en-US" dirty="0" err="1"/>
              <a:t>Auriosi</a:t>
            </a:r>
            <a:r>
              <a:rPr lang="en-US" dirty="0"/>
              <a:t>/</a:t>
            </a:r>
            <a:r>
              <a:rPr lang="en-US" dirty="0" err="1"/>
              <a:t>cpp</a:t>
            </a:r>
            <a:r>
              <a:rPr lang="en-US" dirty="0"/>
              <a:t>-workshop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FBC74-35D9-C062-A1B7-A5F83C6D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D2400-94AD-31F6-37F1-0D939219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B50A7-8097-B5C9-4E58-9ED8D14AD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Engagement data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E0E4A8A-55D4-88B9-EAFE-F5DD91417A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819903"/>
              </p:ext>
            </p:extLst>
          </p:nvPr>
        </p:nvGraphicFramePr>
        <p:xfrm>
          <a:off x="431173" y="1716088"/>
          <a:ext cx="11148531" cy="4593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6177">
                  <a:extLst>
                    <a:ext uri="{9D8B030D-6E8A-4147-A177-3AD203B41FA5}">
                      <a16:colId xmlns:a16="http://schemas.microsoft.com/office/drawing/2014/main" val="2236123262"/>
                    </a:ext>
                  </a:extLst>
                </a:gridCol>
                <a:gridCol w="3716177">
                  <a:extLst>
                    <a:ext uri="{9D8B030D-6E8A-4147-A177-3AD203B41FA5}">
                      <a16:colId xmlns:a16="http://schemas.microsoft.com/office/drawing/2014/main" val="583127937"/>
                    </a:ext>
                  </a:extLst>
                </a:gridCol>
                <a:gridCol w="3716177">
                  <a:extLst>
                    <a:ext uri="{9D8B030D-6E8A-4147-A177-3AD203B41FA5}">
                      <a16:colId xmlns:a16="http://schemas.microsoft.com/office/drawing/2014/main" val="3633622998"/>
                    </a:ext>
                  </a:extLst>
                </a:gridCol>
              </a:tblGrid>
              <a:tr h="656182">
                <a:tc>
                  <a:txBody>
                    <a:bodyPr/>
                    <a:lstStyle/>
                    <a:p>
                      <a:r>
                        <a:rPr lang="en-US" sz="1800" b="1" dirty="0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Impact on engagement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733978"/>
                  </a:ext>
                </a:extLst>
              </a:tr>
              <a:tr h="656182">
                <a:tc>
                  <a:txBody>
                    <a:bodyPr/>
                    <a:lstStyle/>
                    <a:p>
                      <a:r>
                        <a:rPr lang="en-US" sz="1800" b="0" dirty="0"/>
                        <a:t>Eye contact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80% more audience connection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Business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163444"/>
                  </a:ext>
                </a:extLst>
              </a:tr>
              <a:tr h="656182">
                <a:tc>
                  <a:txBody>
                    <a:bodyPr/>
                    <a:lstStyle/>
                    <a:p>
                      <a:r>
                        <a:rPr lang="en-US" sz="1800" b="0" dirty="0"/>
                        <a:t>Storytelling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Increases retention by 22x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University study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5465077"/>
                  </a:ext>
                </a:extLst>
              </a:tr>
              <a:tr h="656182">
                <a:tc>
                  <a:txBody>
                    <a:bodyPr/>
                    <a:lstStyle/>
                    <a:p>
                      <a:r>
                        <a:rPr lang="en-US" sz="1800" b="0" dirty="0"/>
                        <a:t>Interactive polls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Leads to 34% higher engagement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LinkedIn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6475176"/>
                  </a:ext>
                </a:extLst>
              </a:tr>
              <a:tr h="656182">
                <a:tc>
                  <a:txBody>
                    <a:bodyPr/>
                    <a:lstStyle/>
                    <a:p>
                      <a:r>
                        <a:rPr lang="en-US" sz="1800" b="0" dirty="0"/>
                        <a:t>Visual aids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Boosts retention by 65%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Company research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1271249"/>
                  </a:ext>
                </a:extLst>
              </a:tr>
              <a:tr h="656182">
                <a:tc>
                  <a:txBody>
                    <a:bodyPr/>
                    <a:lstStyle/>
                    <a:p>
                      <a:r>
                        <a:rPr lang="en-US" sz="1800" b="0" dirty="0"/>
                        <a:t>Attention spans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Lasts about 5 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Journal article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4049109"/>
                  </a:ext>
                </a:extLst>
              </a:tr>
              <a:tr h="656182">
                <a:tc>
                  <a:txBody>
                    <a:bodyPr/>
                    <a:lstStyle/>
                    <a:p>
                      <a:r>
                        <a:rPr lang="en-US" sz="1800" b="0" dirty="0"/>
                        <a:t>First impressions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Made in the first 15 seconds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Industry report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033052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461AE3-EE8B-D6AA-C542-739A07913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C5C81-4B4A-4C1A-B255-174CB9D3D2AE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FA715D-0DE7-5C1E-A01B-3CC861FF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0D08B-C7CA-70C3-F459-4B8F8CFD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372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9F20-7FE0-9464-CC8C-AAB74EE17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visuals matter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72345-EDED-4266-CFF8-650FF0BB1E4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/>
              <a:t>Studies show that 35% of an audience’s retention rate is attributed to visuals, so use these best practices.</a:t>
            </a:r>
          </a:p>
          <a:p>
            <a:pPr marL="0" indent="0">
              <a:buNone/>
            </a:pPr>
            <a:r>
              <a:rPr lang="en-US" sz="1800" b="1" dirty="0"/>
              <a:t>Use high-quality images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Avoid stock photos that feel overused. Use animated images sparingly. Motion should enhance, not distract.</a:t>
            </a:r>
          </a:p>
          <a:p>
            <a:pPr marL="0" indent="0">
              <a:buNone/>
            </a:pPr>
            <a:r>
              <a:rPr lang="en-US" sz="1800" b="1" dirty="0"/>
              <a:t>Leverage infographics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Present complex data in an easy-to-digest format.</a:t>
            </a:r>
          </a:p>
          <a:p>
            <a:pPr marL="0" indent="0">
              <a:buNone/>
            </a:pPr>
            <a:r>
              <a:rPr lang="en-US" sz="1800" b="1" dirty="0"/>
              <a:t>Keep text minimal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Slides should support your speech, not replace it.</a:t>
            </a:r>
          </a:p>
          <a:p>
            <a:pPr marL="0" indent="0">
              <a:buNone/>
            </a:pPr>
            <a:r>
              <a:rPr lang="en-US" sz="1800" b="1" dirty="0"/>
              <a:t>Use brand colors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Maintain consistency in fonts and color palettes for professionalism.</a:t>
            </a:r>
          </a:p>
        </p:txBody>
      </p:sp>
      <p:pic>
        <p:nvPicPr>
          <p:cNvPr id="9" name="Picture Placeholder 8" descr="A group of wood blocks">
            <a:extLst>
              <a:ext uri="{FF2B5EF4-FFF2-40B4-BE49-F238E27FC236}">
                <a16:creationId xmlns:a16="http://schemas.microsoft.com/office/drawing/2014/main" id="{606BD1CA-C191-4496-8931-F725453418B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05E06-DEAE-0DD1-4D36-DFAC6C725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A4445-5DD2-41DC-BDE3-6A90E266904E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F804B-D6FC-83A9-36FC-E721C009E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FE3EB-673E-77EF-2980-BA6EC57A5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379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332A3-41ED-5C79-EEE4-FB0C4C503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35%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CD8EA-EA7C-8648-6703-261B5BAF001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of an audience’s retention rate is attributed to the visuals used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9EABE-3580-5671-50D4-25E706EDC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98514-CB2E-43FF-940B-F99B0EA9BFC0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29139-7FC6-888D-5CC9-C5B5E32F7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C91B8-8829-9453-E93E-4D286CFA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01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BA28-7B5B-3D59-0D23-C072A5C2A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/>
          <a:lstStyle/>
          <a:p>
            <a:r>
              <a:rPr lang="en-US" dirty="0"/>
              <a:t>Delivering with impact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43BCF-B6AE-B157-B5A8-60575A5F5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/>
          <a:lstStyle/>
          <a:p>
            <a:r>
              <a:rPr lang="en-US" dirty="0"/>
              <a:t>Keeping your audience engaged through effective techniques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9490C-0AC8-DB82-0D8F-BF8C4A553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E0C6-06DB-432B-A080-77CD90ED5127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A4C37-2120-C1F6-AF98-9C4415689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62AC7-4EBD-6C7B-71E2-19F58FD8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730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0F23-1809-2CC4-1A94-F826616D2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pic>
        <p:nvPicPr>
          <p:cNvPr id="7" name="Picture Placeholder 6" descr="A close-up of a sand dune">
            <a:extLst>
              <a:ext uri="{FF2B5EF4-FFF2-40B4-BE49-F238E27FC236}">
                <a16:creationId xmlns:a16="http://schemas.microsoft.com/office/drawing/2014/main" id="{3C37CE0E-074A-209D-2D43-EC5FAC327C3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D71A6-1036-A099-9BDF-27C11F75648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Your delivery can make or break your presentation. Focus on the following techniques.</a:t>
            </a:r>
          </a:p>
          <a:p>
            <a:pPr marL="0" indent="0">
              <a:buNone/>
            </a:pPr>
            <a:r>
              <a:rPr lang="en-US" sz="1800" b="1" dirty="0"/>
              <a:t>Voice modulation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Vary pitch, tone, and volume to emphasize key points. Pause strategically as silence builds anticipation.</a:t>
            </a:r>
          </a:p>
          <a:p>
            <a:pPr marL="0" indent="0">
              <a:buNone/>
            </a:pPr>
            <a:r>
              <a:rPr lang="en-US" sz="1800" b="1" dirty="0"/>
              <a:t>Body language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Maintain open gestures and avoid crossing your arms. Move naturally. Step forward when making a strong point.</a:t>
            </a:r>
          </a:p>
          <a:p>
            <a:pPr marL="0" indent="0">
              <a:buNone/>
            </a:pPr>
            <a:r>
              <a:rPr lang="en-US" sz="1800" b="1" dirty="0"/>
              <a:t>Non-verbal cues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Look for cues (like nodding and note-taking) that show that your audience is engaged.</a:t>
            </a:r>
          </a:p>
          <a:p>
            <a:pPr marL="0" indent="0">
              <a:buNone/>
            </a:pPr>
            <a:r>
              <a:rPr lang="en-US" sz="1800" b="1" dirty="0"/>
              <a:t>Additional tips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Be confident, rehearse aloud, and show enthusiasm.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C179B-16F5-B0EA-D1AC-994412131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0F5D8-D5B8-4089-B8CF-3C65B488B2D1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DF91-6465-ADEF-7133-CCC328584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032F8-92FC-BD1A-A9AF-986FE04C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844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7B4E-3C70-7F36-A4BF-7CA5CBC8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dirty="0"/>
              <a:t>Delivering with confidence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7E922-AE57-EC70-406A-77ED03351F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3464" y="1596767"/>
            <a:ext cx="9537192" cy="414223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Meaningful eye contact, purposeful gestures, and good posture can enhance your message and make it more memorable.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41BF0-B686-A29F-997F-508B02524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5E90F-DD16-4D07-98B2-5ADD02240C41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50EF4-0955-7408-3882-4FDCAF3F6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43CCF-A463-89C5-41C7-D943D6977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552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2F8EAF-D9DE-9FD3-ED83-7032E7D7F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A6679F-0290-515C-BB0F-947C10AC81E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/>
          <a:lstStyle/>
          <a:p>
            <a:r>
              <a:rPr lang="en-US" dirty="0"/>
              <a:t>Start with a hook and a clear purpose. Engage your audience using eye contact, storytelling, and questions. Design slides that enhance your message, not distract. And deliver with confidence.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B6F15B-92C0-806D-7631-A3635A42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9AFF9-B37A-4509-BBAB-27DBFDFA26BE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3DC08D-8457-0839-8C25-A7C068F93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D8A57-68C7-1BAD-CE79-017C9801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058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09B1-CECE-7466-7044-9D73619E5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6681B-5E1B-BD2B-6960-3B46EFE83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/>
          <a:lstStyle/>
          <a:p>
            <a:r>
              <a:rPr lang="en-US" dirty="0"/>
              <a:t>Use this portion of your presentation to answer audience questions.</a:t>
            </a:r>
          </a:p>
        </p:txBody>
      </p:sp>
      <p:pic>
        <p:nvPicPr>
          <p:cNvPr id="15" name="Picture Placeholder 14" descr="A close-up of a desert">
            <a:extLst>
              <a:ext uri="{FF2B5EF4-FFF2-40B4-BE49-F238E27FC236}">
                <a16:creationId xmlns:a16="http://schemas.microsoft.com/office/drawing/2014/main" id="{A52016E5-43C0-59E9-C7D5-5F2E24721B8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1733150" cy="513580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47696-CC61-C5A5-6C0C-BC554FB64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170B-54FF-401A-804E-64B53FFEC9A3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C9FFD-93B6-D3DC-72EF-DBAF2803A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738C8-C838-438B-F934-0218EC26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686948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{2054748A-991E-4D8F-8BC9-749AF6029D0C}05f950ec-c865-457c-93ae-9eb2ef1c603f-TFa19fa653-f273-4169-96ef-448bb1cd1027_win32</Template>
  <TotalTime>39</TotalTime>
  <Words>540</Words>
  <Application>Microsoft Office PowerPoint</Application>
  <PresentationFormat>Widescreen</PresentationFormat>
  <Paragraphs>116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Neue Haas Grotesk Text Pro</vt:lpstr>
      <vt:lpstr>OasisVTI</vt:lpstr>
      <vt:lpstr>A Hacker's Guide to C++</vt:lpstr>
      <vt:lpstr>Agenda</vt:lpstr>
      <vt:lpstr>Self Introduction</vt:lpstr>
      <vt:lpstr>C++ is complicated</vt:lpstr>
      <vt:lpstr>Tools installation</vt:lpstr>
      <vt:lpstr>Project Introduction</vt:lpstr>
      <vt:lpstr>Engagement data</vt:lpstr>
      <vt:lpstr>Why visuals matter</vt:lpstr>
      <vt:lpstr>35%</vt:lpstr>
      <vt:lpstr>Delivering with impact</vt:lpstr>
      <vt:lpstr>Effective delivery techniques</vt:lpstr>
      <vt:lpstr>Delivering with confidence </vt:lpstr>
      <vt:lpstr>Conclusion 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Hails, Aaron M</dc:creator>
  <cp:lastModifiedBy>Hails, Aaron M</cp:lastModifiedBy>
  <cp:revision>2</cp:revision>
  <dcterms:created xsi:type="dcterms:W3CDTF">2026-04-13T14:58:58Z</dcterms:created>
  <dcterms:modified xsi:type="dcterms:W3CDTF">2026-04-13T15:38:49Z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